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51329" y="1208275"/>
            <a:ext cx="6212541" cy="2451039"/>
          </a:xfrm>
        </p:spPr>
        <p:txBody>
          <a:bodyPr/>
          <a:lstStyle/>
          <a:p>
            <a:r>
              <a:rPr lang="pt-BR" sz="3600" b="1" dirty="0"/>
              <a:t>Otimização Logística Inteligente: 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600" b="1" dirty="0" smtClean="0"/>
              <a:t>A </a:t>
            </a:r>
            <a:r>
              <a:rPr lang="pt-BR" sz="3600" b="1" dirty="0"/>
              <a:t>Teoria de Grafos 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600" b="1" dirty="0" smtClean="0"/>
              <a:t>na Roteirização Profissional</a:t>
            </a:r>
            <a:endParaRPr lang="pt-BR" sz="36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51329" y="4589121"/>
            <a:ext cx="9978418" cy="1730998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tx1">
                    <a:lumMod val="95000"/>
                  </a:schemeClr>
                </a:solidFill>
              </a:rPr>
              <a:t>Problema:</a:t>
            </a:r>
            <a:r>
              <a:rPr lang="pt-BR" dirty="0">
                <a:solidFill>
                  <a:schemeClr val="tx1">
                    <a:lumMod val="95000"/>
                  </a:schemeClr>
                </a:solidFill>
              </a:rPr>
              <a:t> </a:t>
            </a:r>
            <a:endParaRPr lang="pt-BR" dirty="0" smtClean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pt-BR" dirty="0" smtClean="0">
                <a:solidFill>
                  <a:schemeClr val="tx1">
                    <a:lumMod val="95000"/>
                  </a:schemeClr>
                </a:solidFill>
              </a:rPr>
              <a:t>Como </a:t>
            </a:r>
            <a:r>
              <a:rPr lang="pt-BR" dirty="0">
                <a:solidFill>
                  <a:schemeClr val="tx1">
                    <a:lumMod val="95000"/>
                  </a:schemeClr>
                </a:solidFill>
              </a:rPr>
              <a:t>garantir a </a:t>
            </a:r>
            <a:r>
              <a:rPr lang="pt-BR" b="1" dirty="0">
                <a:solidFill>
                  <a:schemeClr val="tx1">
                    <a:lumMod val="95000"/>
                  </a:schemeClr>
                </a:solidFill>
              </a:rPr>
              <a:t>máxima eficiência</a:t>
            </a:r>
            <a:r>
              <a:rPr lang="pt-BR" dirty="0">
                <a:solidFill>
                  <a:schemeClr val="tx1">
                    <a:lumMod val="95000"/>
                  </a:schemeClr>
                </a:solidFill>
              </a:rPr>
              <a:t> e </a:t>
            </a:r>
            <a:r>
              <a:rPr lang="pt-BR" b="1" dirty="0">
                <a:solidFill>
                  <a:schemeClr val="tx1">
                    <a:lumMod val="95000"/>
                  </a:schemeClr>
                </a:solidFill>
              </a:rPr>
              <a:t>resiliência</a:t>
            </a:r>
            <a:r>
              <a:rPr lang="pt-BR" dirty="0">
                <a:solidFill>
                  <a:schemeClr val="tx1">
                    <a:lumMod val="95000"/>
                  </a:schemeClr>
                </a:solidFill>
              </a:rPr>
              <a:t> na distribuição logística, simulando sistemas de nível corporativo como o SAP?</a:t>
            </a:r>
          </a:p>
          <a:p>
            <a:endParaRPr lang="pt-BR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605" y="1208275"/>
            <a:ext cx="3299013" cy="301264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8579923" y="4312122"/>
            <a:ext cx="1949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Imagem gerada por AI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136227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2174" y="354875"/>
            <a:ext cx="7409168" cy="1400530"/>
          </a:xfrm>
        </p:spPr>
        <p:txBody>
          <a:bodyPr/>
          <a:lstStyle/>
          <a:p>
            <a:r>
              <a:rPr lang="pt-BR" sz="3600" b="1" dirty="0"/>
              <a:t>Nossa Abordagem: Robustez e Automação (MR/DG)</a:t>
            </a:r>
            <a:endParaRPr lang="pt-BR" sz="36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2173" y="1933930"/>
            <a:ext cx="6507723" cy="1201270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Conceito Central</a:t>
            </a:r>
            <a:r>
              <a:rPr lang="pt-BR" b="1" dirty="0" smtClean="0"/>
              <a:t>: </a:t>
            </a:r>
            <a:r>
              <a:rPr lang="pt-BR" dirty="0" smtClean="0">
                <a:solidFill>
                  <a:schemeClr val="tx1">
                    <a:lumMod val="95000"/>
                  </a:schemeClr>
                </a:solidFill>
              </a:rPr>
              <a:t>Sistema </a:t>
            </a:r>
            <a:r>
              <a:rPr lang="pt-BR" dirty="0">
                <a:solidFill>
                  <a:schemeClr val="tx1">
                    <a:lumMod val="95000"/>
                  </a:schemeClr>
                </a:solidFill>
              </a:rPr>
              <a:t>de roteirização logística em </a:t>
            </a:r>
            <a:r>
              <a:rPr lang="pt-BR" b="1" dirty="0">
                <a:solidFill>
                  <a:schemeClr val="tx1">
                    <a:lumMod val="95000"/>
                  </a:schemeClr>
                </a:solidFill>
              </a:rPr>
              <a:t>Python</a:t>
            </a:r>
            <a:r>
              <a:rPr lang="pt-BR" dirty="0">
                <a:solidFill>
                  <a:schemeClr val="tx1">
                    <a:lumMod val="95000"/>
                  </a:schemeClr>
                </a:solidFill>
              </a:rPr>
              <a:t> (NetworkX) que simula a modularidade e otimização de transporte </a:t>
            </a:r>
            <a:r>
              <a:rPr lang="pt-BR" dirty="0" smtClean="0">
                <a:solidFill>
                  <a:schemeClr val="tx1">
                    <a:lumMod val="95000"/>
                  </a:schemeClr>
                </a:solidFill>
              </a:rPr>
              <a:t/>
            </a:r>
            <a:br>
              <a:rPr lang="pt-BR" dirty="0" smtClean="0">
                <a:solidFill>
                  <a:schemeClr val="tx1">
                    <a:lumMod val="95000"/>
                  </a:schemeClr>
                </a:solidFill>
              </a:rPr>
            </a:br>
            <a:r>
              <a:rPr lang="pt-BR" dirty="0" smtClean="0">
                <a:solidFill>
                  <a:schemeClr val="tx1">
                    <a:lumMod val="95000"/>
                  </a:schemeClr>
                </a:solidFill>
              </a:rPr>
              <a:t>de </a:t>
            </a:r>
            <a:r>
              <a:rPr lang="pt-BR" dirty="0">
                <a:solidFill>
                  <a:schemeClr val="tx1">
                    <a:lumMod val="95000"/>
                  </a:schemeClr>
                </a:solidFill>
              </a:rPr>
              <a:t>um sistema ERP (análogo ao SAP).</a:t>
            </a:r>
            <a:endParaRPr lang="pt-BR" dirty="0"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047" y="1933930"/>
            <a:ext cx="4282339" cy="4356427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9561558" y="6290357"/>
            <a:ext cx="1949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Imagem gerada por AI</a:t>
            </a:r>
            <a:endParaRPr lang="pt-BR" sz="1200" dirty="0"/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592324" y="3492250"/>
            <a:ext cx="6507723" cy="12012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sz="2400" b="1" dirty="0"/>
              <a:t>Diferenciais:</a:t>
            </a:r>
            <a:endParaRPr lang="pt-BR" sz="2400" dirty="0"/>
          </a:p>
          <a:p>
            <a:pPr lvl="1"/>
            <a:r>
              <a:rPr lang="pt-BR" sz="2000" b="1" dirty="0"/>
              <a:t>Cálculo Automático:</a:t>
            </a:r>
            <a:r>
              <a:rPr lang="pt-BR" sz="2000" dirty="0"/>
              <a:t> Uso do algoritmo de </a:t>
            </a:r>
            <a:r>
              <a:rPr lang="pt-BR" sz="2000" b="1" dirty="0"/>
              <a:t>Dijkstra</a:t>
            </a:r>
            <a:r>
              <a:rPr lang="pt-BR" sz="2000" dirty="0"/>
              <a:t> para encontrar o caminho de menor custo de forma automática e escalável.</a:t>
            </a:r>
          </a:p>
          <a:p>
            <a:pPr lvl="1"/>
            <a:r>
              <a:rPr lang="pt-BR" sz="2000" b="1" dirty="0"/>
              <a:t>Análise de Robustez:</a:t>
            </a:r>
            <a:r>
              <a:rPr lang="pt-BR" sz="2000" dirty="0"/>
              <a:t> Capacidade de simular a </a:t>
            </a:r>
            <a:r>
              <a:rPr lang="pt-BR" sz="2000" b="1" dirty="0"/>
              <a:t>falha de uma estrada crítica</a:t>
            </a:r>
            <a:r>
              <a:rPr lang="pt-BR" sz="2000" dirty="0"/>
              <a:t> e recalcular instantaneamente a rota alternativa mais eficiente.</a:t>
            </a:r>
          </a:p>
        </p:txBody>
      </p:sp>
    </p:spTree>
    <p:extLst>
      <p:ext uri="{BB962C8B-B14F-4D97-AF65-F5344CB8AC3E}">
        <p14:creationId xmlns:p14="http://schemas.microsoft.com/office/powerpoint/2010/main" val="3222627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7731407" cy="1400530"/>
          </a:xfrm>
        </p:spPr>
        <p:txBody>
          <a:bodyPr/>
          <a:lstStyle/>
          <a:p>
            <a:r>
              <a:rPr lang="pt-BR" sz="3600" b="1" dirty="0"/>
              <a:t> MR/DG vs. Abordagem Manual: Escalabilidade e Resiliência</a:t>
            </a:r>
            <a:endParaRPr lang="pt-BR" sz="36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94030" y="2268072"/>
            <a:ext cx="6279123" cy="2061882"/>
          </a:xfrm>
        </p:spPr>
        <p:txBody>
          <a:bodyPr>
            <a:normAutofit/>
          </a:bodyPr>
          <a:lstStyle/>
          <a:p>
            <a:r>
              <a:rPr lang="pt-BR" b="1" dirty="0"/>
              <a:t>Vantagem:</a:t>
            </a:r>
            <a:r>
              <a:rPr lang="pt-BR" dirty="0"/>
              <a:t> Em um ambiente profissional (como o SAP), a </a:t>
            </a:r>
            <a:r>
              <a:rPr lang="pt-BR" b="1" dirty="0"/>
              <a:t>robustez</a:t>
            </a:r>
            <a:r>
              <a:rPr lang="pt-BR" dirty="0"/>
              <a:t> e a </a:t>
            </a:r>
            <a:r>
              <a:rPr lang="pt-BR" b="1" dirty="0"/>
              <a:t>automação</a:t>
            </a:r>
            <a:r>
              <a:rPr lang="pt-BR" dirty="0"/>
              <a:t> do modelo MR/DG são cruciais para garantir a 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b="1" dirty="0" smtClean="0"/>
              <a:t>confiabilidade </a:t>
            </a:r>
            <a:r>
              <a:rPr lang="pt-BR" b="1" dirty="0"/>
              <a:t>da entrega</a:t>
            </a:r>
            <a:r>
              <a:rPr lang="pt-BR" dirty="0"/>
              <a:t> e a </a:t>
            </a:r>
            <a:r>
              <a:rPr lang="pt-BR" b="1" dirty="0"/>
              <a:t>resiliência da rede logística</a:t>
            </a:r>
            <a:r>
              <a:rPr lang="pt-BR" dirty="0" smtClean="0"/>
              <a:t>.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627" y="1917608"/>
            <a:ext cx="3717875" cy="3743604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9459564" y="5725572"/>
            <a:ext cx="1949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Imagem gerada por AI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583188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4371" y="1313330"/>
            <a:ext cx="8255842" cy="851647"/>
          </a:xfrm>
        </p:spPr>
        <p:txBody>
          <a:bodyPr/>
          <a:lstStyle/>
          <a:p>
            <a:r>
              <a:rPr lang="pt-BR" sz="3600" b="1" dirty="0"/>
              <a:t>Comparação de Desempenho</a:t>
            </a:r>
            <a:endParaRPr lang="pt-BR" sz="3600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230683"/>
              </p:ext>
            </p:extLst>
          </p:nvPr>
        </p:nvGraphicFramePr>
        <p:xfrm>
          <a:off x="834371" y="2716959"/>
          <a:ext cx="10139085" cy="3872752"/>
        </p:xfrm>
        <a:graphic>
          <a:graphicData uri="http://schemas.openxmlformats.org/drawingml/2006/table">
            <a:tbl>
              <a:tblPr/>
              <a:tblGrid>
                <a:gridCol w="3379695"/>
                <a:gridCol w="3379695"/>
                <a:gridCol w="3379695"/>
              </a:tblGrid>
              <a:tr h="678205">
                <a:tc>
                  <a:txBody>
                    <a:bodyPr/>
                    <a:lstStyle/>
                    <a:p>
                      <a:pPr algn="l" fontAlgn="t"/>
                      <a:r>
                        <a:rPr lang="pt-BR" b="1" dirty="0">
                          <a:solidFill>
                            <a:schemeClr val="tx1"/>
                          </a:solidFill>
                          <a:effectLst/>
                        </a:rPr>
                        <a:t>Critério</a:t>
                      </a:r>
                    </a:p>
                  </a:txBody>
                  <a:tcPr marT="66675" marB="66675">
                    <a:lnL w="12700" cap="flat" cmpd="sng" algn="ctr">
                      <a:solidFill>
                        <a:srgbClr val="C0EA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F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A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0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b="1" dirty="0">
                          <a:solidFill>
                            <a:schemeClr val="tx1"/>
                          </a:solidFill>
                          <a:effectLst/>
                        </a:rPr>
                        <a:t>MR/DG (Nossa Solução)</a:t>
                      </a:r>
                    </a:p>
                  </a:txBody>
                  <a:tcPr marT="66675" marB="66675">
                    <a:lnL w="12700" cap="flat" cmpd="sng" algn="ctr">
                      <a:solidFill>
                        <a:srgbClr val="90F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F6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b="1" dirty="0">
                          <a:solidFill>
                            <a:schemeClr val="tx1"/>
                          </a:solidFill>
                          <a:effectLst/>
                        </a:rPr>
                        <a:t>Abordagem Manual (LB)</a:t>
                      </a:r>
                    </a:p>
                  </a:txBody>
                  <a:tcPr marT="66675" marB="66675">
                    <a:lnL w="12700" cap="flat" cmpd="sng" algn="ctr">
                      <a:solidFill>
                        <a:srgbClr val="C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F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06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4849">
                <a:tc>
                  <a:txBody>
                    <a:bodyPr/>
                    <a:lstStyle/>
                    <a:p>
                      <a:pPr algn="l"/>
                      <a:r>
                        <a:rPr lang="pt-BR" b="1">
                          <a:solidFill>
                            <a:schemeClr val="tx1"/>
                          </a:solidFill>
                          <a:effectLst/>
                        </a:rPr>
                        <a:t>Cálculo de Rota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0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07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0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1">
                          <a:solidFill>
                            <a:schemeClr val="tx1"/>
                          </a:solidFill>
                          <a:effectLst/>
                        </a:rPr>
                        <a:t>Automático (Dijkstra)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06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0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1">
                          <a:solidFill>
                            <a:schemeClr val="tx1"/>
                          </a:solidFill>
                          <a:effectLst/>
                        </a:rPr>
                        <a:t>Manual (Iteração de caminhos)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2006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06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06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0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4849">
                <a:tc>
                  <a:txBody>
                    <a:bodyPr/>
                    <a:lstStyle/>
                    <a:p>
                      <a:pPr algn="l"/>
                      <a:r>
                        <a:rPr lang="pt-BR" b="1">
                          <a:solidFill>
                            <a:schemeClr val="tx1"/>
                          </a:solidFill>
                          <a:effectLst/>
                        </a:rPr>
                        <a:t>Escalabilidade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0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0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0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3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1">
                          <a:solidFill>
                            <a:schemeClr val="tx1"/>
                          </a:solidFill>
                          <a:effectLst/>
                        </a:rPr>
                        <a:t>Alta (Ideal para grafos grandes)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00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0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0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3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1">
                          <a:solidFill>
                            <a:schemeClr val="tx1"/>
                          </a:solidFill>
                          <a:effectLst/>
                        </a:rPr>
                        <a:t>Limitada (Depende de caminhos pré-definidos)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0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0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0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3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4849">
                <a:tc>
                  <a:txBody>
                    <a:bodyPr/>
                    <a:lstStyle/>
                    <a:p>
                      <a:pPr algn="l"/>
                      <a:r>
                        <a:rPr lang="pt-BR" b="1" dirty="0">
                          <a:solidFill>
                            <a:schemeClr val="tx1"/>
                          </a:solidFill>
                          <a:effectLst/>
                        </a:rPr>
                        <a:t>Resiliência à Falha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03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3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31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1">
                          <a:solidFill>
                            <a:schemeClr val="tx1"/>
                          </a:solidFill>
                          <a:effectLst/>
                        </a:rPr>
                        <a:t>Automática (Recálculo instantâneo)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103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3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3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A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b="1" dirty="0">
                          <a:solidFill>
                            <a:schemeClr val="tx1"/>
                          </a:solidFill>
                          <a:effectLst/>
                        </a:rPr>
                        <a:t>Manual (Recálculo lento)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03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3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3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3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196396" y="0"/>
            <a:ext cx="13816211" cy="559829"/>
          </a:xfrm>
          <a:prstGeom prst="rect">
            <a:avLst/>
          </a:prstGeom>
          <a:solidFill>
            <a:srgbClr val="F8F8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smtClean="0">
                <a:ln>
                  <a:noFill/>
                </a:ln>
                <a:solidFill>
                  <a:srgbClr val="34322D"/>
                </a:solidFill>
                <a:effectLst/>
                <a:latin typeface="-apple-system"/>
              </a:rPr>
              <a:t>Comparação de Desempenho:</a:t>
            </a:r>
            <a:endParaRPr kumimoji="0" lang="pt-BR" altLang="pt-BR" sz="1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ubo 5"/>
          <p:cNvSpPr/>
          <p:nvPr/>
        </p:nvSpPr>
        <p:spPr>
          <a:xfrm>
            <a:off x="8686801" y="884938"/>
            <a:ext cx="1586753" cy="1403629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ubo 6"/>
          <p:cNvSpPr/>
          <p:nvPr/>
        </p:nvSpPr>
        <p:spPr>
          <a:xfrm>
            <a:off x="10116672" y="1218967"/>
            <a:ext cx="1586753" cy="1403629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 para a esquerda e para a direita 7"/>
          <p:cNvSpPr/>
          <p:nvPr/>
        </p:nvSpPr>
        <p:spPr>
          <a:xfrm rot="1084179">
            <a:off x="9333055" y="1775016"/>
            <a:ext cx="1331259" cy="281376"/>
          </a:xfrm>
          <a:prstGeom prst="leftRightArrow">
            <a:avLst/>
          </a:prstGeom>
          <a:solidFill>
            <a:srgbClr val="C0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9449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03312" y="750577"/>
            <a:ext cx="5916920" cy="1700547"/>
          </a:xfrm>
        </p:spPr>
        <p:txBody>
          <a:bodyPr/>
          <a:lstStyle/>
          <a:p>
            <a:r>
              <a:rPr lang="pt-BR" sz="3600" b="1" dirty="0"/>
              <a:t>Conclusão: </a:t>
            </a:r>
            <a:r>
              <a:rPr lang="pt-BR" sz="3600" b="1" dirty="0" smtClean="0"/>
              <a:t/>
            </a:r>
            <a:br>
              <a:rPr lang="pt-BR" sz="3600" b="1" dirty="0" smtClean="0"/>
            </a:br>
            <a:r>
              <a:rPr lang="pt-BR" sz="3600" b="1" dirty="0" smtClean="0"/>
              <a:t>A </a:t>
            </a:r>
            <a:r>
              <a:rPr lang="pt-BR" sz="3600" b="1" dirty="0"/>
              <a:t>Escolha Profissional</a:t>
            </a:r>
            <a:endParaRPr lang="pt-BR" sz="36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072" y="2229898"/>
            <a:ext cx="6536353" cy="1117985"/>
          </a:xfrm>
        </p:spPr>
        <p:txBody>
          <a:bodyPr/>
          <a:lstStyle/>
          <a:p>
            <a:r>
              <a:rPr lang="pt-BR" dirty="0"/>
              <a:t>O modelo MR/DG é o preferível para sistemas logísticos corporativos, pois oferece </a:t>
            </a:r>
            <a:r>
              <a:rPr lang="pt-BR" b="1" dirty="0"/>
              <a:t>Robustez</a:t>
            </a:r>
            <a:r>
              <a:rPr lang="pt-BR" dirty="0"/>
              <a:t>, </a:t>
            </a:r>
            <a:r>
              <a:rPr lang="pt-BR" b="1" dirty="0" smtClean="0"/>
              <a:t>Escalabilidade</a:t>
            </a:r>
            <a:r>
              <a:rPr lang="pt-BR" dirty="0"/>
              <a:t> e </a:t>
            </a:r>
            <a:r>
              <a:rPr lang="pt-BR" b="1" dirty="0"/>
              <a:t>Automação</a:t>
            </a:r>
            <a:r>
              <a:rPr lang="pt-BR" dirty="0"/>
              <a:t>.</a:t>
            </a:r>
            <a:endParaRPr lang="pt-BR" dirty="0"/>
          </a:p>
        </p:txBody>
      </p:sp>
      <p:sp>
        <p:nvSpPr>
          <p:cNvPr id="4" name="Rosto feliz 3"/>
          <p:cNvSpPr/>
          <p:nvPr/>
        </p:nvSpPr>
        <p:spPr>
          <a:xfrm>
            <a:off x="7639665" y="2082414"/>
            <a:ext cx="3952568" cy="3932904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/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3109092" y="4622172"/>
            <a:ext cx="3321206" cy="1117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pt-BR" sz="4800" b="1" dirty="0" smtClean="0"/>
              <a:t>Obrigado.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36509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31</TotalTime>
  <Words>118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-apple-system</vt:lpstr>
      <vt:lpstr>Arial</vt:lpstr>
      <vt:lpstr>Century Gothic</vt:lpstr>
      <vt:lpstr>Wingdings 3</vt:lpstr>
      <vt:lpstr>Íon</vt:lpstr>
      <vt:lpstr>Otimização Logística Inteligente:  A Teoria de Grafos  na Roteirização Profissional</vt:lpstr>
      <vt:lpstr>Nossa Abordagem: Robustez e Automação (MR/DG)</vt:lpstr>
      <vt:lpstr> MR/DG vs. Abordagem Manual: Escalabilidade e Resiliência</vt:lpstr>
      <vt:lpstr>Comparação de Desempenho</vt:lpstr>
      <vt:lpstr>Conclusão:  A Escolha Profissional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Otimização Logística Inteligente:  A Teoria de Grafos  na Roteirização Profissional</dc:title>
  <dc:creator>Conta da Microsoft</dc:creator>
  <cp:lastModifiedBy>Conta da Microsoft</cp:lastModifiedBy>
  <cp:revision>4</cp:revision>
  <dcterms:created xsi:type="dcterms:W3CDTF">2025-11-19T17:47:34Z</dcterms:created>
  <dcterms:modified xsi:type="dcterms:W3CDTF">2025-11-19T18:19:22Z</dcterms:modified>
</cp:coreProperties>
</file>